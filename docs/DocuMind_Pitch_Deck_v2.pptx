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0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381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3810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4572000"/>
            <a:ext cx="38100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DocuMind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78BFA"/>
                </a:solidFill>
              </a:rPr>
              <a:t>"El cerebro digital de tu empresa"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011680" cy="292608"/>
          </a:xfrm>
          <a:prstGeom prst="roundRect">
            <a:avLst>
              <a:gd name="adj" fmla="val 4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★  Caso de Innovación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Grupo 1GS241  ·  UTP  ·  Innovación y Emprendimiento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Prof. Melvin Falcón  ·  29/05/2026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82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Kelvin 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9827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8-999-1950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4008120"/>
            <a:ext cx="685800" cy="237744"/>
          </a:xfrm>
          <a:prstGeom prst="roundRect">
            <a:avLst>
              <a:gd name="adj" fmla="val 4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98848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496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Roy Barrera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496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8-1022-2121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575048"/>
            <a:ext cx="685800" cy="237744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</a:rPr>
              <a:t>Backend Lead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65776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165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Einer Mosquera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165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8-924-1880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141976"/>
            <a:ext cx="685800" cy="237744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</a:rPr>
              <a:t>Frontend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32704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6835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Nicolás Athanasidis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68350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8-1001-974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5708904"/>
            <a:ext cx="685800" cy="237744"/>
          </a:xfrm>
          <a:prstGeom prst="roundRect">
            <a:avLst>
              <a:gd name="adj" fmla="val 4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1">
                <a:solidFill>
                  <a:srgbClr val="FFFFFF"/>
                </a:solidFill>
              </a:rPr>
              <a:t>QA / Docs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640080"/>
            <a:ext cx="7040880" cy="5852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822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◉  DocuMind AI — Chat con Constructora Nova S.A.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1234440"/>
            <a:ext cx="7040880" cy="1270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32588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👤  ¿Cuántos días de vacaciones con 2 años de trabajo?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67335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🤖  Según el Manual de RRHH (p.4), un empleado con 2 años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02082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      tiene 17 días hábiles de vacaciones anuales.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36829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Fuente: Manual_RRHH_Nova.pdf, página 4.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71576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0632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👤  ¿Quién debe aprobar una compra de $3,000?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41071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🤖  El Gerente General junto con el Gerente de Finanzas.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75818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Fuente: Politica_Compras_Proveedores.pdf, página 4.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10565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45312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👤  ¿Cuál es el plazo del contrato de arrendamiento?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80060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🤖  El contrato tiene un plazo de 24 meses renovables.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1480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      Fuente: Contrato_Arrendamiento_Oficina.pdf, página 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6309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7 docs indexados  ·  1,847 chunks  ·  Groq llama-3.1-8b  ·  ~0.8 s/respuesta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El 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Las empresas pierden miles de horas buscando información en sus propios documentos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834640" cy="6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</a:rPr>
              <a:t>2.5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perdidas por empleado
cada semana buscando
documentos internos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64992" y="1417320"/>
            <a:ext cx="2834640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600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</a:rPr>
              <a:t>6,000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468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anuales de productividad
perdida en una empresa
de 50 empleados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41732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4" y="1417320"/>
            <a:ext cx="2834640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00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</a:rPr>
              <a:t>$75,000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468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costo anual estimado
en tiempo no productivo
(empresa 50 empleados)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1417320"/>
            <a:ext cx="283464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0576" y="1417320"/>
            <a:ext cx="2834640" cy="635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6002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F4444"/>
                </a:solidFill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46888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de MIPYMES panameñas
sin herramientas de gestión
documental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78BFA"/>
                </a:solidFill>
              </a:rPr>
              <a:t>¿Cómo se ve hoy en una empresa panameña?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▸ Carpetas compartidas caóticas: nadie sabe dónde está nada.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▸ Empleados preguntan a compañeros → interrumpen la productividad.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▸ Versiones obsoletas de contratos generan errores y conflictos legales.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▸ Búsquedas manuales en cientos de PDFs consumen horas cada semana.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FFFFF"/>
                </a:solidFill>
              </a:rPr>
              <a:t>▸ Conocimiento crítico se pierde cuando un empleado clave se va.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Fuentes: AMPYME 2026  ·  La Prensa Panamá  ·  Estimaciones internas DocuMind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La Solución — DocuMind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Convierte documentos estáticos en conocimiento accionable mediante 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777240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ChatGPT responde con conocimiento general de internet.  DocuMind responde con los documentos internos de tu empresa, citando archivo, página y párrafo exactos.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0592"/>
            <a:ext cx="2267712" cy="40690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50592"/>
            <a:ext cx="2267712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2084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DocuMind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39312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Búsqueda semántica
que entiende el significado,
no solo palabras clave.
Encuentra sinónimos y contexto.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2450592"/>
            <a:ext cx="2267712" cy="40690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2450592"/>
            <a:ext cx="2267712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2578608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3127248"/>
            <a:ext cx="2084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DocuMind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639312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Chatbot RAG que responde
en lenguaje natural citando
archivo, página y párrafo
exactos. Siempre verificable.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2450592"/>
            <a:ext cx="2267712" cy="40690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2450592"/>
            <a:ext cx="2267712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578608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127248"/>
            <a:ext cx="2084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OCR Integrado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3639312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Procesa PDFs escaneados
e imágenes JPG/PNG con
Tesseract. Muestra % de
confianza del OCR.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2450592"/>
            <a:ext cx="2267712" cy="40690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79792" y="2450592"/>
            <a:ext cx="2267712" cy="6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71232" y="2578608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2" y="3127248"/>
            <a:ext cx="2084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39312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Dashboard con métricas
en tiempo real: documentos,
chunks, consultas,
actividad 7 días.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0656" y="2450592"/>
            <a:ext cx="2267712" cy="40690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20656" y="2450592"/>
            <a:ext cx="2267712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12096" y="2578608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127248"/>
            <a:ext cx="20848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Free &amp; Paid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3639312"/>
            <a:ext cx="20482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</a:rPr>
              <a:t>Plan Free de entrada.
Upgrade en 2 clics vía
Stripe. Plan activo al
instante sin ngrok.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Demo — Constructora Nova S.A.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7 documentos reales · 12 preguntas · respuestas con cita exacta en &lt; 1 segundo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4206240" cy="5074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⏱  Flujo de Demo — 3 minutos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055368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8076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Landing futurista animada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8076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6222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4769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Login con Clerk (cuenta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4769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10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89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21462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con 7 docs indexados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14624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20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75615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8155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Subir imagen → OCR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781552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30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323080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34848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Chat con 3 preguntas y citas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348480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90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890008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1540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Búsqueda semántica con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1540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20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4569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48233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 → Pago en vivo (Stripe)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48233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15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1417320"/>
            <a:ext cx="6858000" cy="50749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15727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❓  Preguntas del Demo (selección de las 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0299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¿Cuántos días de vacaciones con 2 años?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23225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17 días hábiles  [Manual RRHH p.4]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7157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¿Preaviso para renunciar?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0083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30 días calendario  [Contrato Laboral p.3]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015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¿Plazo del contrato de arrendamiento?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6941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24 meses renovables  [Arrendamiento p.2]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0873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¿Quién aprueba compras de $3,000?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799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Gerente General + Finanzas  [Compras p.4]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7731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¿Cobertura del seguro médico en emergencias?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0657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100% sin deducible  [Contrato Laboral p.4]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458968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¿Qué dice el acta sobre el presupuesto?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751576"/>
            <a:ext cx="6492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0B981"/>
                </a:solidFill>
              </a:rPr>
              <a:t>▸  $3,200,000 aprobado (OCR)  [Acta p.1]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6263640"/>
            <a:ext cx="2286000" cy="256032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Groq llama-3.1-8b · ~0.8 s/respuesta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9520" y="6263640"/>
            <a:ext cx="2103120" cy="256032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Fallback extractivo sin 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Tecnología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Stack moderno y open-source · Sin Docker · APIs gratuitas · Fallback sin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45336"/>
            <a:ext cx="1280160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Next.js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545336"/>
            <a:ext cx="111556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6984" y="1545336"/>
            <a:ext cx="1280160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1545336"/>
            <a:ext cx="136245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Tailwind v4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9056" y="1545336"/>
            <a:ext cx="119786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shadcn/ui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56648" y="1545336"/>
            <a:ext cx="152704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Framer 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71116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Auth &amp; Pagos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199132"/>
            <a:ext cx="1033271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Clerk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9" y="2199132"/>
            <a:ext cx="119786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Stripe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2391" y="2199132"/>
            <a:ext cx="152704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OAuth +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9167" y="2199132"/>
            <a:ext cx="1691639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Stripe Checkout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4" y="2199132"/>
            <a:ext cx="1444752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Sin webhooks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24912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Backend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852928"/>
            <a:ext cx="152704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FastAPI 0.138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08576" y="2852928"/>
            <a:ext cx="136245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 3.11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852928"/>
            <a:ext cx="177393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Uvicorn --reload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4" y="2852928"/>
            <a:ext cx="177393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 endpoints 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8" y="2852928"/>
            <a:ext cx="136245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78708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LLM — Groq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506724"/>
            <a:ext cx="2103120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llama-3.1-8b-instant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4648" y="3506724"/>
            <a:ext cx="1856232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30 req/min gratis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0608" y="3506724"/>
            <a:ext cx="177393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~0.8 s respuesta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3506724"/>
            <a:ext cx="202082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Fallback extractivo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32504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Embeddings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160520"/>
            <a:ext cx="177393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55464" y="4160520"/>
            <a:ext cx="152704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ChromaDB ONNX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160520"/>
            <a:ext cx="868680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22 MB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70648" y="4160520"/>
            <a:ext cx="136245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Sin PyTorch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42832" y="4160520"/>
            <a:ext cx="2267712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Búsqueda local offline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686300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OCR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4814316"/>
            <a:ext cx="152704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Tesseract OCR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08576" y="4814316"/>
            <a:ext cx="119786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pdf2image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16168" y="4814316"/>
            <a:ext cx="1033271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Poppler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9167" y="4814316"/>
            <a:ext cx="950976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Pillow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1" y="4814316"/>
            <a:ext cx="243230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Grayscale + binarización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40096"/>
            <a:ext cx="2377440" cy="566928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>
                <a:solidFill>
                  <a:srgbClr val="0F172A"/>
                </a:solidFill>
              </a:rPr>
              <a:t>Almacenamiento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5468112"/>
            <a:ext cx="2350008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ChromaDB 1.5 (vectores)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31536" y="5468112"/>
            <a:ext cx="1856232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SQLite (metadata)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97496" y="5468112"/>
            <a:ext cx="2843784" cy="310896"/>
          </a:xfrm>
          <a:prstGeom prst="roundRect">
            <a:avLst>
              <a:gd name="adj" fmla="val 45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Sistema de archivos (uploads)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El Producto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Sistema Operativo del Conocimiento Empresarial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4475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0934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Búsqueda Semántica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Entiende el significado real.
'Baja por maternidad' encuentra
'permiso por maternidad'.
Sin coincidencia exacta de palabras.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4475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44475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0934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Chat con Citas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3911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Responde en lenguaje natural
citando archivo, página y
párrafo exactos.
Siempre verificable, nunca inventa.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4475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44475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72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60934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OCR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PDFs escaneados e imágenes
JPG/PNG con Tesseract.
Preprocesamiento automático.
Confianza % visible en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0507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00507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33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6966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Dashboard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9943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Métricas en tiempo real:
documentos, chunks, consultas,
almacenamiento y gráfica
de actividad (7 días).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00507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3400" y="400507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133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6966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Gating Free/Pago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Free: 3 docs, sin OCR.
Upgrade en 2 clics vía Stripe.
Plan sube al instante.
Sin ngrok ni webhooks.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005072"/>
            <a:ext cx="3730752" cy="24231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005072"/>
            <a:ext cx="3730752" cy="635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133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169664"/>
            <a:ext cx="2907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Fallback Extractivo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599432"/>
            <a:ext cx="345643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Sin Groq → muestra los chunks
más relevantes directamente.
100% uptime. La app nunca
se cae por falta de LLM.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Mercado Objetivo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Comenzando en Panamá · Expandiendo por Latinoamérica · TAM global $6.78B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80160"/>
            <a:ext cx="5029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50876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78BFA"/>
                </a:solidFill>
              </a:rPr>
              <a:t>Fase 1 — Panamá (Meses 1-12)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▸ Despachos legales (bufetes, notarías, CSJ)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▸ Constructoras (gestión de contratos y RRHH)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▸ Consultoras (auditoría, recursos humanos, finanzas)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▸ Universidades (reglamentos, actas, administrativo)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</a:rPr>
              <a:t>▸ Bancos y aseguradoras (compliance y riesgos)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78BFA"/>
                </a:solidFill>
              </a:rPr>
              <a:t>Expansión regional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▸ Año 2: Costa Rica + Colombia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▸ Año 3+: México, Perú, Chile, Ecuador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</a:rPr>
              <a:t>▸ Buyer persona: Gerente PYME con &gt; 50 docs/mes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080760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108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$6.78B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6080760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61081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6108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$800M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6080760"/>
            <a:ext cx="1920240" cy="566928"/>
          </a:xfrm>
          <a:prstGeom prst="roundRect">
            <a:avLst>
              <a:gd name="adj" fmla="val 10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610819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108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$45M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Competencia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Ningún competidor muestra 'página 7, párrafo 3' — esa es nuestra ventaja diferencial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1556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1554480"/>
                <a:gridCol w="1554480"/>
                <a:gridCol w="1554480"/>
                <a:gridCol w="155448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Característica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DocuMind AI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Copilot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Glean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Notion AI</a:t>
                      </a:r>
                    </a:p>
                  </a:txBody>
                  <a:tcPr>
                    <a:solidFill>
                      <a:srgbClr val="27344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Citas exactas (archivo + página)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PARCIAL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Multi-documento simultáneo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Español latinoamericano nativo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NATIVO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GENÉRICO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OCR (imágenes y PDFs escaneados)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On-premise opcional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Precio accesible para MIPYMES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$49/mes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$30/user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$30/user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$500+/mes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</a:rPr>
                        <a:t>⚠️ $10/user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4A3B8"/>
                          </a:solidFill>
                        </a:rPr>
                        <a:t>Stack open source (sin lock-in)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0B981"/>
                          </a:solidFill>
                        </a:rPr>
                        <a:t>✅ SÍ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F4444"/>
                          </a:solidFill>
                        </a:rPr>
                        <a:t>❌ NO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Modelo de Negocio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SaaS con freemium · Upgrade en 2 clics vía Stripe · Sin contratos anuales obligatorios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834640" cy="507492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$0/mes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07792"/>
            <a:ext cx="2468880" cy="1270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3 documentos máx.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10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20 consultas/mes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Sin OCR (imágenes)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97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1 usuario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— soporte community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417320"/>
            <a:ext cx="2834640" cy="5074920"/>
          </a:xfrm>
          <a:prstGeom prst="roundRect">
            <a:avLst>
              <a:gd name="adj" fmla="val 7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86200" y="1417320"/>
            <a:ext cx="1828800" cy="274320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⭐  RECOMENDADO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830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04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$49/mes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907792"/>
            <a:ext cx="246888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Docs ilimitados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10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OCR activo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Chat RAG + búsqueda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97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5 usuarios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90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Soporte 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417320"/>
            <a:ext cx="2834640" cy="507492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7830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04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$199/mes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07792"/>
            <a:ext cx="2468880" cy="1270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50 usuarios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10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100 GB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Multi-workspace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97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API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90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Soporte prioritario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1417320"/>
            <a:ext cx="2834640" cy="507492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178308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30428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$999/mes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907792"/>
            <a:ext cx="2468880" cy="12700"/>
          </a:xfrm>
          <a:prstGeom prst="rect">
            <a:avLst/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Usuarios ilimitados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410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On-premise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SSO/SAML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197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CSM dedicado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590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▸  SLA 99.9%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172200"/>
            <a:ext cx="11274552" cy="457200"/>
          </a:xfrm>
          <a:prstGeom prst="roundRect">
            <a:avLst>
              <a:gd name="adj" fmla="val 8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Flujo de upgrade:  UpgradeDialog  →  POST /api/stripe/checkout  →  Stripe Checkout  →  POST /api/stripe/confirm  →  publicMetadata.plan='starter'  →  UI refleja Starter al instante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Tracción Inicial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Validación antes de inversión — lean startup · enfoque en señales reales del mercado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44752"/>
            <a:ext cx="2816352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2816352" cy="6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A78BFA"/>
                </a:solidFill>
              </a:rPr>
              <a:t>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8716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Empresas en
waitlist activa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444752"/>
            <a:ext cx="2816352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6704" y="1444752"/>
            <a:ext cx="2816352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1600200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0B981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48716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Pilotos
comprometidos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44752"/>
            <a:ext cx="2816352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444752"/>
            <a:ext cx="2816352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600200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59E0B"/>
                </a:solidFill>
              </a:rPr>
              <a:t>&lt; 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48716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Tiempo de respuesta
promedio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2" y="1444752"/>
            <a:ext cx="2816352" cy="21031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25712" y="1444752"/>
            <a:ext cx="2816352" cy="635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600200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94A3B8"/>
                </a:solidFill>
              </a:rP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487168"/>
            <a:ext cx="2633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Inversión en
adquisición hoy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3749039" cy="26517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862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🏗️  Nova Constructora S.A.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"Ahora cualquier empleado sabe sus cláusulas de
contrato en segundos, sin llamarme a mí."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778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Carlos Méndez · Gerente General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1" y="3749039"/>
            <a:ext cx="3749039" cy="26517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1" y="38862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⚖️  Bufete Méndez &amp; Asociados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1" y="425196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"Encontrar jurisprudencia en 15,000 PDFs
solía tomar 3 horas. Ahora: 8 segundos."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1" y="55778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Dr. Luis Méndez · Socio fundador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84462" y="3749039"/>
            <a:ext cx="3749039" cy="265176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2" y="388620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🎓  Universidad del Pacífico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2" y="4251960"/>
            <a:ext cx="34747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"Los estudiantes consultan reglamentos sin
colapsar la línea de secretaría."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2" y="557784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— Lic. Sofía Arias · Directora Académica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Finanzas — Proyección 3 Años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Break-even en el mes 10 · Margen 33% → 60% · LTV/CAC = 28.8×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1323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533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KPIs Clave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01368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8394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Clientes — Fin Año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8394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78BFA"/>
                </a:solidFill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85416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2235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MRR — Año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235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$2,040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569464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6075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ARR — Año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6075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$12,000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953512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9916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Clientes — Fin Año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9916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78BFA"/>
                </a:solidFill>
              </a:rPr>
              <a:t>340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337560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3756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MRR — Año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3756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$34,680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721608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37597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ARR — Año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7597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$300,000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105656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1437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Margen Año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1437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33%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489704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5278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Margen Año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5278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60%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873752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9118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9118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</a:rPr>
              <a:t>$50/cliente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5257800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2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52959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LTV / CAC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52959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28.8 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5641848"/>
            <a:ext cx="4114800" cy="34747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6799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Break-even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6799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A78BFA"/>
                </a:solidFill>
              </a:rPr>
              <a:t>Mes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El Equipo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Grupo 1GS241 · UTP · Innovación y Emprendimiento · 29/05/2026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2560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002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Kelvin 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07568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8-999-1950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377440"/>
            <a:ext cx="1371600" cy="256032"/>
          </a:xfrm>
          <a:prstGeom prst="roundRect">
            <a:avLst>
              <a:gd name="adj" fmla="val 4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1576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Visión del producto
Pitch a inversionistas
Estrategia de negocio
Relaciones con aliados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977639"/>
            <a:ext cx="25400" cy="4114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4389120"/>
            <a:ext cx="841248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0552" y="4389120"/>
            <a:ext cx="25400" cy="3474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736592"/>
            <a:ext cx="329184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736592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Roy Barrera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8-1022-2121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559552"/>
            <a:ext cx="2103120" cy="237744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Backend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33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Arquitectura RAG  ·  FastAPI + ChromaDB  ·  Embeddings ONNX  ·  OCR + Tesseract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1" y="4389120"/>
            <a:ext cx="25400" cy="3474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59" y="4736592"/>
            <a:ext cx="329184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4736592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1999" y="4892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Einer Mosquera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303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8-924-1880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19" y="5559552"/>
            <a:ext cx="2103120" cy="237744"/>
          </a:xfrm>
          <a:prstGeom prst="roundRect">
            <a:avLst>
              <a:gd name="adj" fmla="val 4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Frontend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5833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Next.js 14 + React  ·  shadcn/ui + Tailwind  ·  Landing futurista  ·  Dashboard + Chat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85830" y="4389120"/>
            <a:ext cx="25400" cy="3474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58198" y="4736592"/>
            <a:ext cx="3291840" cy="1783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58198" y="4736592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38" y="4892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Nicolás Athanasidis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38" y="5303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8-1001-974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8" y="5559552"/>
            <a:ext cx="2103120" cy="237744"/>
          </a:xfrm>
          <a:prstGeom prst="roundRect">
            <a:avLst>
              <a:gd name="adj" fmla="val 4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QA /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38" y="5833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Pruebas funcionales  ·  Documentación técnica  ·  Soporte en el pitch  ·  Control de calidad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De MVP universitario a infraestructura de conocimiento para Latinoamérica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749039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</a:rPr>
              <a:t>🚀  Corto Plazo
0 – 6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Lanzar MVP funcional y sin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9504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10 empresas piloto en Panamá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38728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Waitlist: 500 suscriptores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87952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5 pagos reales (Revenue &gt; $0)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37176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Registrar marca DocuMind en DPI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Constituir empresa (SA Panamá)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41732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3" y="1417320"/>
            <a:ext cx="3749039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3" y="1527048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⚡  Mediano Plazo
6 – 18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3" y="224028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100 clientes pagos · MRR $10K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3" y="2889504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Versión 2.0 · multi-tenancy +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3" y="3538728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Expansión: Costa Rica + Colombia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3" y="4187952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Equipo de 5 personas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3" y="4837176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Ronda semilla $50K – $100K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3" y="548640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3 alianzas activas (AMPYME, CC, UTP)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30766" y="141732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0766" y="1417320"/>
            <a:ext cx="3749039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7926" y="1527048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🌎  Largo Plazo
18 – 36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6" y="224028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1,000+ clientes · ARR &gt; $1M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6" y="2889504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5 países (PA, CR, CO, MX, PE)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6" y="3538728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Módulos: Compliance +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6" y="4187952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Integración: DGI, CSS, SAP, Slack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6" y="4837176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Expansión hispanos USA (Miami)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6" y="5486400"/>
            <a:ext cx="33832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Adquisición estratégica o IPO local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</a:rPr>
              <a:t>Inversión Requerida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463040" cy="50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Bootstrapping viable · $4,100 para llegar al break-even en el mes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A78BFA"/>
                </a:solidFill>
              </a:rPr>
              <a:t>$4,100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Inversión inicial total (seed)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63240"/>
            <a:ext cx="4206240" cy="3337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663440" y="1417320"/>
            <a:ext cx="71323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417320"/>
            <a:ext cx="63500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4808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808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$50 /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2938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Marketing orgánico + alianzas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404872"/>
            <a:ext cx="71323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404872"/>
            <a:ext cx="635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4683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683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$1,440 /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916936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$120 × 12 meses × 85% retención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392424"/>
            <a:ext cx="71323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392424"/>
            <a:ext cx="6350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559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LTV / 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559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28.8 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90448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Excelente — benchmark &gt;3 es saludable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379976"/>
            <a:ext cx="71323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4379976"/>
            <a:ext cx="635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4434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Break-even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4347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Mes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8920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Con 2–3 clientes/mes de crecimiento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367528"/>
            <a:ext cx="7132320" cy="8686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5367528"/>
            <a:ext cx="6350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54310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Margen bruto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4310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33% → 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587959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Año 1 → Año 3 (modelo SaaS escalable)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023360"/>
          </a:xfrm>
          <a:prstGeom prst="rect">
            <a:avLst/>
          </a:prstGeom>
          <a:solidFill>
            <a:srgbClr val="160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Transforma tu empresa.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78BFA"/>
                </a:solidFill>
              </a:rPr>
              <a:t>El cerebro digital de tu empresa está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"Innovar no es solo crear algo nuevo, es crear algo que valga la pena."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3566160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3566160" cy="635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Demo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18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http://localhost:3000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Levanta el proyecto con
2 comandos y pruébalo ahora.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206240"/>
            <a:ext cx="3566160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4206240"/>
            <a:ext cx="3566160" cy="6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38912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818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kelvinhe04@gmail.com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Primeras 50 empresas reciben
acceso anticipado gratuito.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06240"/>
            <a:ext cx="3566160" cy="2286000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4206240"/>
            <a:ext cx="3566160" cy="63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38912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UTP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818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Grupo 1GS241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Innovación y Emprendimiento
Prof. Melvin Falcón · 29/05/2026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01400" y="4160520"/>
            <a:ext cx="7772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01400" y="416052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</a:rPr>
              <a:t>QR
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57432" y="6537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