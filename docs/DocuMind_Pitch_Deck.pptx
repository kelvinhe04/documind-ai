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(USD)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Sheet1!$A$2:$A$4</c:f>
              <c:strCache>
                <c:ptCount val="3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12000</c:v>
                </c:pt>
                <c:pt idx="1">
                  <c:v>60000</c:v>
                </c:pt>
                <c:pt idx="2">
                  <c:v>300000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Costos (USD)</c:v>
                </c:pt>
              </c:strCache>
            </c:strRef>
          </c:tx>
          <c:spPr>
            <a:solidFill>
              <a:srgbClr val="EF4444"/>
            </a:solidFill>
          </c:spPr>
          <c:cat>
            <c:strRef>
              <c:f>Sheet1!$A$2:$A$4</c:f>
              <c:strCache>
                <c:ptCount val="3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8000</c:v>
                </c:pt>
                <c:pt idx="1">
                  <c:v>35000</c:v>
                </c:pt>
                <c:pt idx="2">
                  <c:v>120000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Utilidad (USD)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Sheet1!$A$2:$A$4</c:f>
              <c:strCache>
                <c:ptCount val="3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4000</c:v>
                </c:pt>
                <c:pt idx="1">
                  <c:v>25000</c:v>
                </c:pt>
                <c:pt idx="2">
                  <c:v>180000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1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38100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2286000"/>
            <a:ext cx="38100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4572000"/>
            <a:ext cx="38100" cy="2286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DocuMind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78BFA"/>
                </a:solidFill>
              </a:rPr>
              <a:t>"El cerebro digital de tu empresa"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1371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Caso de Innovación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Grupo 1GS241  ·  UTP  ·  Innovación y Emprendimiento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Prof. Melvin Falcón  ·  29/5/2026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He, Kelvin         8-999-1950   — CEO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Barrera, Roy       8-1022-2121  — Backend Lead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Mosquera, Einer    8-924-1880   — Frontend Lead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Athanasidis, N.    8-1001-974   — QA / Docs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731520"/>
            <a:ext cx="713232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1005840"/>
            <a:ext cx="6583680" cy="4754880"/>
          </a:xfrm>
          <a:prstGeom prst="rect">
            <a:avLst/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DocuMind AI —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6002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👤 ¿Cuántos días de vacaciones con 2 años?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98424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🤖 Según el Manual de RRHH p.4, un empleado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368296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    con 2 años tiene 17 días hábiles de vacaciones.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752344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  Fuente: Manual_RRHH_Nova.pdf, página 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136391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5204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👤 ¿Quién aprueba una compra de $3,000?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904487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🤖 Gerente General + Gerente de Finanzas.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288536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  Fuente: Politica_Compras_Proveedores.pdf, p.4.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0292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7 docs indexados  ·  1,847 chunks  ·  Groq llama-3.1-8b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78BFA"/>
                </a:solidFill>
              </a:rPr>
              <a:t>El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Las empresas pierden horas buscando información en sus propios documentos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4747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A78BFA"/>
                </a:solidFill>
              </a:rPr>
              <a:t>2.5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perdidas por empleado/semana
buscando documentos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4747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0B981"/>
                </a:solidFill>
              </a:rPr>
              <a:t>6,000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anuales de productividad
perdida en 50 empleados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463040"/>
            <a:ext cx="34747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600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9E0B"/>
                </a:solidFill>
              </a:rPr>
              <a:t>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de MIPYMES panameñas sin
herramientas documentales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A78BFA"/>
                </a:solidFill>
              </a:rPr>
              <a:t>¿Cómo se ve hoy en una empresa panameña?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▸ Carpetas compartidas caóticas sin búsqueda inteligente.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▸ Empleados preguntan a compañeros → interrumpen la productividad.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▸ Versiones obsoletas de contratos generan errores graves.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▸ Búsquedas manuales en 100s de PDFs toman horas.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Fuente: AMPYME 2026  ·  La Prensa Panamá  ·  Estimaciones internas DocuMind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78BFA"/>
                </a:solidFill>
              </a:rPr>
              <a:t>La Solución — DocuMind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Convierte documentos estáticos en conocimiento accionable mediante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ChatGPT responde con conocimiento general de internet. DocuMind responde con los documentos internos de tu empresa, citando archivo, página y párrafo exactos.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2194560" cy="3566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219456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C3AED"/>
                </a:solidFill>
              </a:rPr>
              <a:t>DocuMind
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Búsqueda semántica
entiende el significado,
no solo palabras clave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651760"/>
            <a:ext cx="2194560" cy="3566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2651760"/>
            <a:ext cx="219456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</a:rPr>
              <a:t>DocuMind
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47472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Chatbot RAG que cita
la fuente exacta:
archivo, página, párrafo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651760"/>
            <a:ext cx="2194560" cy="3566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2651760"/>
            <a:ext cx="21945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</a:rPr>
              <a:t>OCR
Integrado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47472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Procesa PDFs escaneados
e imágenes JPG/PNG
con Tesseract OCR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2651760"/>
            <a:ext cx="2194560" cy="3566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2651760"/>
            <a:ext cx="219456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A78BFA"/>
                </a:solidFill>
              </a:rPr>
              <a:t>DocuMind
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47472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Dashboard con métricas
de uso, productividad
y tendencias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651760"/>
            <a:ext cx="2194560" cy="3566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0" y="2651760"/>
            <a:ext cx="219456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</a:rPr>
              <a:t>Free &amp;
Paid Plans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47472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Plan gratuito de entrada
→ upgrade instantáneo
vía Stripe Checkout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78BFA"/>
                </a:solidFill>
              </a:rPr>
              <a:t>Demo — Constructora Nova S.A.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7 documentos reales, 12 preguntas, respuestas con cita exacta en &lt; 1 segundo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Flujo de Demo — 3 minutos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583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Landing futurista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583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15 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527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Login con Clerk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5527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10 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470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Dashboard (7 docs)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1470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20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0332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7414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Subir imagen → OCR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7414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30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3357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Chat con 3 preguntas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3357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90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9204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9301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Búsqueda semántica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9301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20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4864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5245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Free → Pago (Stripe)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55245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15 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1371600"/>
            <a:ext cx="68580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1508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Preguntas de Demo (selección)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1920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¿Cuántos días de vacaciones con 2 años?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194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</a:rPr>
              <a:t>→ 17 días hábiles  [Manual RRHH p.4]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6060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¿Preaviso de renuncia?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880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</a:rPr>
              <a:t>→ 30 días calendario  [Contrato Laboral p.3]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291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¿Plazo del arrendamiento?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35661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</a:rPr>
              <a:t>→ 24 meses renovables  [Arrendamiento p.2]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977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¿Quién aprueba compra de $3,000?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251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</a:rPr>
              <a:t>→ Gerente General + Finanzas  [Compras p.4]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663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¿Seguro médico en emergencias?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9377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</a:rPr>
              <a:t>→ 100% cobertura  [Contrato Laboral p.4]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349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¿Qué dice el acta sobre el presupuesto?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623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</a:rPr>
              <a:t>→ $3,200,000 aprobado  [Acta OCR p.1]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6217920"/>
            <a:ext cx="2011680" cy="274320"/>
          </a:xfrm>
          <a:prstGeom prst="rect">
            <a:avLst/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Groq llama-3.1-8b · ~0.8 s/respuesta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6217920"/>
            <a:ext cx="1828800" cy="274320"/>
          </a:xfrm>
          <a:prstGeom prst="rect">
            <a:avLst/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Fallback extractivo sin LLM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78BFA"/>
                </a:solidFill>
              </a:rPr>
              <a:t>Tecnología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Stack moderno, open-source, sin Docker · Todo local + APIs gratuitas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286000" cy="548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371600"/>
            <a:ext cx="87782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14351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Next.js 14 · React 18 · TypeScript · Tailwind v4 · shadcn/ui · Framer Motion · Recharts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39112"/>
            <a:ext cx="22860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Auth &amp; Pagos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039112"/>
            <a:ext cx="87782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10261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Clerk (auth real OAuth/email) · Stripe (test mode, sin webhooks) · plan en Clerk publicMetadata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06624"/>
            <a:ext cx="22860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Backend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706624"/>
            <a:ext cx="87782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770124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FastAPI 0.138 · Python 3.11 · Uvicorn --reload · 4 endpoints REST · Pydantic v2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74136"/>
            <a:ext cx="22860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IA — 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374136"/>
            <a:ext cx="87782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3437636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Groq API  llama-3.1-8b-instant · 30 req/min gratis · ~0.8 s/respuesta · Fallback extractivo sin LLM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41648"/>
            <a:ext cx="2286000" cy="548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IA — Embeddings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4041648"/>
            <a:ext cx="87782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4105148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all-MiniLM-L6-v2 vía ChromaDB ONNX · 22 MB · Sin PyTorch · Offline · Búsqueda semántica local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09160"/>
            <a:ext cx="22860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OCR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709160"/>
            <a:ext cx="87782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47726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Tesseract OCR · pdf2image + Poppler · Pillow · Preprocesamiento grayscale+binarización · Confianza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76672"/>
            <a:ext cx="2286000" cy="5486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Almacenamiento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376672"/>
            <a:ext cx="87782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3240" y="544017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ChromaDB 1.5 (vectores, persistente) · SQLite (metadata) · Sistema de archivos (uploads)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78BFA"/>
                </a:solidFill>
              </a:rPr>
              <a:t>El Producto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Sistema Operativo del Conocimiento Empresarial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6576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Búsqueda Semántica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Entiende el significado
¿'baja por maternidad'? Encuentra
'permiso por maternidad' aunque
no coincidan las palabras exactas.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36576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36576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Chat con Citas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659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Responde en lenguaje natural
citando archivo, página y
párrafo exactos. Fuente siempre
verificable.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36576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36576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OCR Avanzado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9659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Procesa PDFs escaneados
e imágenes JPG/PNG. Tesseract
con preprocesamiento. Muestra
% de confianza.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36576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365760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416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Dashboard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4805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Métricas en tiempo real:
docs indexados, chunks, consultas,
almacenamiento, actividad
de los últimos 7 días.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931920"/>
            <a:ext cx="36576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931920"/>
            <a:ext cx="36576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0416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Gating Free/Pago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4805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Plan Free: 3 docs, sin OCR.
Upgrade en 2 clics vía Stripe.
Plan sube al instante sin ngrok
ni webhooks.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6576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3657600" cy="508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0416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</a:rPr>
              <a:t>Fallback Extractivo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4805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Si Groq no responde, la app
muestra los chunks relevantes
directamente. 100% uptime
sin depender del LLM.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78BFA"/>
                </a:solidFill>
              </a:rPr>
              <a:t>Mercado Objetivo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Comenzando en Panamá · Expandiendo a Latinoamérica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371600"/>
            <a:ext cx="5852160" cy="5120640"/>
          </a:xfrm>
          <a:prstGeom prst="rect">
            <a:avLst/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TAM  $6.78B USD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Mercado global gestión documental
e inteligencia empresarial (2026)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2011680"/>
            <a:ext cx="438912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1945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</a:rPr>
              <a:t>SAM  $800M USD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65176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Latinoamérica: México,
Centroamérica, Colombia, Perú, Chile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743200"/>
            <a:ext cx="2743200" cy="2468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926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SOM  $45M USD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832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Panamá + Costa Rica
+ Colombia en 3 años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4630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Fase 1 — Panamá (Meses 1-12)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Despachos legales (bufetes, notarías)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Constructoras (gestión contratos)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Consultoras (RRHH, auditoría, finanzas)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Universidades (administrativo)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▸ Bancos (compliance y riesgos)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</a:rPr>
              <a:t>Expansión regional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Año 2: Costa Rica + Colombia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Año 3+: México, Perú, Chile, Ecuador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78BFA"/>
                </a:solidFill>
              </a:rPr>
              <a:t>Competencia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Ningún competidor muestra 'página 7, párrafo 3' con nuestra precisión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737360"/>
                <a:gridCol w="1554480"/>
                <a:gridCol w="1554480"/>
                <a:gridCol w="1554480"/>
                <a:gridCol w="155448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Característica</a:t>
                      </a:r>
                    </a:p>
                  </a:txBody>
                  <a:tcPr>
                    <a:solidFill>
                      <a:srgbClr val="2734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DocuMind AI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ChatGPT</a:t>
                      </a:r>
                    </a:p>
                  </a:txBody>
                  <a:tcPr>
                    <a:solidFill>
                      <a:srgbClr val="2734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Copilot</a:t>
                      </a:r>
                    </a:p>
                  </a:txBody>
                  <a:tcPr>
                    <a:solidFill>
                      <a:srgbClr val="2734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Glean</a:t>
                      </a:r>
                    </a:p>
                  </a:txBody>
                  <a:tcPr>
                    <a:solidFill>
                      <a:srgbClr val="2734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Notion AI</a:t>
                      </a:r>
                    </a:p>
                  </a:txBody>
                  <a:tcPr>
                    <a:solidFill>
                      <a:srgbClr val="2734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</a:rPr>
                        <a:t>Citas exactas (archivo, página)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</a:rPr>
                        <a:t>✅ SÍ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⚠️ PARCIAL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</a:rPr>
                        <a:t>Multi-documento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</a:rPr>
                        <a:t>✅ SÍ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B981"/>
                          </a:solidFill>
                        </a:rPr>
                        <a:t>✅ SÍ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B981"/>
                          </a:solidFill>
                        </a:rPr>
                        <a:t>✅ SÍ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</a:rPr>
                        <a:t>Español latinoamericano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</a:rPr>
                        <a:t>✅ NATIVO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⚠️ GENÉRICO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⚠️ GENÉRICO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⚠️ GENÉRICO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⚠️ GENÉRICO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</a:rPr>
                        <a:t>On-premise opcional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</a:rPr>
                        <a:t>✅ SÍ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</a:rPr>
                        <a:t>Precio para MIPYMES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</a:rPr>
                        <a:t>✅ $49-$199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⚠️ $30/user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⚠️ $30/user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$$$$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⚠️ $10/user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</a:rPr>
                        <a:t>Stack open source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</a:rPr>
                        <a:t>✅ SÍ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</a:rPr>
                        <a:t>Precio mensual base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</a:rPr>
                        <a:t>✅ $49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$30/usuario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$30/usuario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$500+/mes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$10/usuario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78BFA"/>
                </a:solidFill>
              </a:rPr>
              <a:t>Modelo de Negocio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SaaS con freemium · Upgrade en 2 clics vía Stripe sin ngrok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83464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78BFA"/>
                </a:solidFill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$0/mes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▸ 3 documentos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▸ 20 consultas/mes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▸ Sin OCR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▸ 1 usuario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834640" cy="4754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0" y="1371600"/>
            <a:ext cx="146304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⭐ RECOMENDADO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$49/mes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Docs ilimitados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37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OCR activo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840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Chat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43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5 usuarios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846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Soporte email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283464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78BFA"/>
                </a:solidFill>
              </a:rPr>
              <a:t>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$199/mes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834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▸ 50 usuarios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37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▸ 100 GB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40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▸ Multi-workspace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343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▸ API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846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▸ Soporte prioritario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1371600"/>
            <a:ext cx="283464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78BFA"/>
                </a:solidFill>
              </a:rPr>
              <a:t>Enterprise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$999/mes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834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▸ Ilimitados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3337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▸ On-premise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840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▸ SSO/SAML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343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▸ CSM dedicado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846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▸ SLA 99.9%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Flujo de upgrade: UpgradeDialog → POST /api/stripe/checkout → Stripe Checkout → POST /api/stripe/confirm → publicMetadata.plan='starter' → UI refleja Starter de inmediato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78BFA"/>
                </a:solidFill>
              </a:rPr>
              <a:t>Tracción Inicial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Validación antes de inversión — enfoque lean startup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7432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A78BFA"/>
                </a:solidFill>
              </a:rPr>
              <a:t>50+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Empresas en
waitlist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463040"/>
            <a:ext cx="27432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6002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0B981"/>
                </a:solidFill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606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Pilotos
comprometidos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27432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06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Testimonios de
empresas reales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463040"/>
            <a:ext cx="27432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6002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94A3B8"/>
                </a:solidFill>
              </a:rP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606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Inversión en
adquisición hasta hoy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36576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160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Nova Constructora S.A.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4805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"Ahora cualquier empleado puede saber sus vacaciones y cláusulas
de contrato en segundos, sin llamarme."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623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— Carlos Méndez — Gerente General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4023360"/>
            <a:ext cx="36576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160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Bufete Méndez &amp; Asociados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4805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"Encontrar jurisprudencia en 15,000 PDFs
solía tomar 3 horas. Ahora: 8 segundos."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623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— Dr. Luis Méndez — Socio fundador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4023360"/>
            <a:ext cx="36576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4160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Universidad del Pacífico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4805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"Los estudiantes pueden consultar reglamentos
sin colapsar la línea de secretaría."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5623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— Lic. Sofía Arias — Directora Académica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78BFA"/>
                </a:solidFill>
              </a:rPr>
              <a:t>Finanzas — Proyección 3 Años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Break-even en el mes 10 · Margen 60% en año 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KPIs Clave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783080"/>
            <a:ext cx="4114800" cy="393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833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Clientes (Fin Año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833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2212848"/>
            <a:ext cx="4114800" cy="393192"/>
          </a:xfrm>
          <a:prstGeom prst="rect">
            <a:avLst/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263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MRR (Año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2636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$2,040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2642616"/>
            <a:ext cx="4114800" cy="393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26934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ARR (Año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9341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$12,000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3072384"/>
            <a:ext cx="4114800" cy="393192"/>
          </a:xfrm>
          <a:prstGeom prst="rect">
            <a:avLst/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31231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Clientes (Fin Año 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1231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340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3502152"/>
            <a:ext cx="4114800" cy="393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3552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MRR (Año 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5529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$34,680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3931920"/>
            <a:ext cx="4114800" cy="393192"/>
          </a:xfrm>
          <a:prstGeom prst="rect">
            <a:avLst/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3982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ARR (Año 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982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$300,000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4361688"/>
            <a:ext cx="4114800" cy="393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44124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Margen Año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4124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33%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4791456"/>
            <a:ext cx="4114800" cy="393192"/>
          </a:xfrm>
          <a:prstGeom prst="rect">
            <a:avLst/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48422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Margen Año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8422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60%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5221224"/>
            <a:ext cx="4114800" cy="3931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5272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LTV / CAC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27202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28.8 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5650992"/>
            <a:ext cx="4114800" cy="393192"/>
          </a:xfrm>
          <a:prstGeom prst="rect">
            <a:avLst/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57017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Break-even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57017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Mes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78BFA"/>
                </a:solidFill>
              </a:rPr>
              <a:t>El Equipo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Grupo 1GS241 · UTP · Innovación y Emprendimiento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371600"/>
            <a:ext cx="320040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60" y="1371600"/>
            <a:ext cx="320040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ED"/>
                </a:solidFill>
              </a:rPr>
              <a:t>Kelvin 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965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8-999-1950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286000"/>
            <a:ext cx="1554480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33472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Visión del producto
Pitch a inversionistas
Estrategia de negocio
Relaciones con aliados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4114800"/>
            <a:ext cx="25400" cy="457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0" y="4572000"/>
            <a:ext cx="8503920" cy="25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48840" y="4572000"/>
            <a:ext cx="25400" cy="3200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892040"/>
            <a:ext cx="320040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892040"/>
            <a:ext cx="32004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Roy Barrera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8-1022-2121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5687568"/>
            <a:ext cx="22860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Backend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Arquitectura RAG  ·  FastAPI + ChromaDB  ·  Embeddings + OCR  ·  Seguridad de datos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4572000"/>
            <a:ext cx="25400" cy="3200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4892040"/>
            <a:ext cx="320040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892040"/>
            <a:ext cx="32004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5029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Einer Mosquera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4406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8-924-1880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5687568"/>
            <a:ext cx="228600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Frontend Lead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989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Next.js + shadcn/ui  ·  Landing futurista  ·  Dashboard + Chat UI  ·  Responsive + polish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12680" y="4572000"/>
            <a:ext cx="25400" cy="3200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80" y="4892040"/>
            <a:ext cx="320040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0" y="4892040"/>
            <a:ext cx="3200400" cy="635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5029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8BFA"/>
                </a:solidFill>
              </a:rPr>
              <a:t>Nicolás Athanasidis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4406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8-1001-974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5687568"/>
            <a:ext cx="2286000" cy="2560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QA / Docs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Pruebas funcionales  ·  Documentación técnica  ·  Soporte en el pitch  ·  Control de calidad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78BFA"/>
                </a:solidFill>
              </a:rP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De MVP a infraestructura de conocimiento latinoamericana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749039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749039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</a:rPr>
              <a:t>Corto Plazo
0 – 6 meses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Lanzar MVP funcional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07208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10 empresas piloto en Panamá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65576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Waitlist: 500 suscriptores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23944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5 pagos reales (Revenue &gt; $0)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82312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Registrar marca DocuMind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Constituir empresa (SA Panamá)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39" y="1371600"/>
            <a:ext cx="3749039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39" y="1371600"/>
            <a:ext cx="3749039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1463040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Mediano Plazo
6 – 18 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19" y="214884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100 clientes pagos · MRR $10K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19" y="2807208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Versión 2.0 · multi-tenancy +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3465576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Expansión: Costa Rica + Colombia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19" y="4123944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Equipo: 5 personas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19" y="4782312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Ronda semilla $50K – $100K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19" y="544068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3 alianzas activas (AMPYME, CC, UTP)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78" y="1371600"/>
            <a:ext cx="3749039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78" y="1371600"/>
            <a:ext cx="3749039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38" y="1463040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Largo Plazo
18 – 36 meses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58" y="214884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1,000+ clientes · ARR &gt; $1M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58" y="2807208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5 países (PA, CR, CO, MX, PE)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58" y="3465576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Módulos: Compliance +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8" y="4123944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Integraciones: DGI, CSS, SAP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58" y="4782312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Expansión hispanos en USA (Miami)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58" y="544068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Adquisición o IPO local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78BFA"/>
                </a:solidFill>
              </a:rPr>
              <a:t>Inversión Requerida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Bootstrapping viable · $4,100 para llegar al break-even (Mes 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A78BFA"/>
                </a:solidFill>
              </a:rPr>
              <a:t>$4,100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Inversión inicial total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457200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5255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Laptop de desarrollo (GPU)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52552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$1,200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52552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B981"/>
                </a:solidFill>
              </a:rPr>
              <a:t>29%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77640"/>
            <a:ext cx="4572000" cy="438912"/>
          </a:xfrm>
          <a:prstGeom prst="rect">
            <a:avLst/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028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Capital de trabajo (3 meses)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0284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$2,000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0284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B981"/>
                </a:solidFill>
              </a:rPr>
              <a:t>49%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457200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5313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Registro empresa (SA Panamá)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5313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$500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5313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B981"/>
                </a:solidFill>
              </a:rPr>
              <a:t>12%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83480"/>
            <a:ext cx="4572000" cy="438912"/>
          </a:xfrm>
          <a:prstGeom prst="rect">
            <a:avLst/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034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Branding y diseño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03428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$300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503428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B981"/>
                </a:solidFill>
              </a:rPr>
              <a:t>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86400"/>
            <a:ext cx="457200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537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Dominio + hosting (1 año)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53720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$100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553720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0B981"/>
                </a:solidFill>
              </a:rPr>
              <a:t>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1371600"/>
            <a:ext cx="612648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0" y="1371600"/>
            <a:ext cx="63500" cy="868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14351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CAC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4351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$50 / cliente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18745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Marketing orgánico + alianzas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2377440"/>
            <a:ext cx="612648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0" y="2377440"/>
            <a:ext cx="6350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24409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LTV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4409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$1,440 / cliente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28803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$120 × 12 meses × 85% retención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3383280"/>
            <a:ext cx="612648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0" y="3383280"/>
            <a:ext cx="6350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34467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LTV / CAC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4467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28.8 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38862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Excelente (&gt;3 es saludable)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4389120"/>
            <a:ext cx="612648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0" y="4389120"/>
            <a:ext cx="6350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0" y="44526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Break-even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4526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Mes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48920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Con 2-3 clientes/mes de crecimiento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0" y="5394960"/>
            <a:ext cx="612648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0" y="5394960"/>
            <a:ext cx="6350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52160" y="54584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Margen bruto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54584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60% en Año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52160" y="58978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Modelo SaaS de alta escalabilidad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A1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Transforma tu empresa.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A78BFA"/>
                </a:solidFill>
              </a:rPr>
              <a:t>El cerebro digital de tu empresa está listo.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34747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297680"/>
            <a:ext cx="347472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</a:rPr>
              <a:t>🌐 Demo en vivo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http://localhost:3000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57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Levanta el proyecto con
2 comandos y pruébalo.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297680"/>
            <a:ext cx="34747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297680"/>
            <a:ext cx="34747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📧 Waitlist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kelvinhe04@gmail.com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5257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Primeras 50 empresas
reciben acceso gratuito.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4297680"/>
            <a:ext cx="34747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4297680"/>
            <a:ext cx="34747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⭐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Grupo 1GS241 · UTP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5257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Innovación y Emprendimiento
Prof. Melvin Falcón · 29/5/2026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0" y="4206240"/>
            <a:ext cx="914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42062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QR
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</a:rPr>
              <a:t>"Innovar no es solo crear algo nuevo, es crear algo que valga la pena."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